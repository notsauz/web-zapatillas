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AN Headline" charset="1" panose="00000000000000000000"/>
      <p:regular r:id="rId13"/>
    </p:embeddedFont>
    <p:embeddedFont>
      <p:font typeface="Montserrat Bold" charset="1" panose="00000800000000000000"/>
      <p:regular r:id="rId14"/>
    </p:embeddedFont>
    <p:embeddedFont>
      <p:font typeface="Montserrat Extra-Light" charset="1" panose="00000300000000000000"/>
      <p:regular r:id="rId15"/>
    </p:embeddedFont>
    <p:embeddedFont>
      <p:font typeface="Montserrat" charset="1" panose="00000500000000000000"/>
      <p:regular r:id="rId16"/>
    </p:embeddedFont>
    <p:embeddedFont>
      <p:font typeface="Montserrat Ultra-Bold" charset="1" panose="00000900000000000000"/>
      <p:regular r:id="rId17"/>
    </p:embeddedFont>
    <p:embeddedFont>
      <p:font typeface="Montserrat Medium" charset="1" panose="000006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canva.link/ocw5uq2131qfx3u" TargetMode="External" Type="http://schemas.openxmlformats.org/officeDocument/2006/relationships/hyperlink"/><Relationship Id="rId3" Target="https://canva.link/ocw5uq2131qfx3u" TargetMode="External" Type="http://schemas.openxmlformats.org/officeDocument/2006/relationships/hyperlink"/><Relationship Id="rId4" Target="https://canva.link/ocw5uq2131qfx3u" TargetMode="External" Type="http://schemas.openxmlformats.org/officeDocument/2006/relationships/hyperlink"/><Relationship Id="rId5" Target="https://canva.link/ocw5uq2131qfx3u" TargetMode="External" Type="http://schemas.openxmlformats.org/officeDocument/2006/relationships/hyperlink"/><Relationship Id="rId6" Target="../media/image1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79165" y="8737260"/>
            <a:ext cx="11933240" cy="521040"/>
            <a:chOff x="0" y="0"/>
            <a:chExt cx="3572814" cy="155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2814" cy="155999"/>
            </a:xfrm>
            <a:custGeom>
              <a:avLst/>
              <a:gdLst/>
              <a:ahLst/>
              <a:cxnLst/>
              <a:rect r="r" b="b" t="t" l="l"/>
              <a:pathLst>
                <a:path h="155999" w="3572814">
                  <a:moveTo>
                    <a:pt x="1786407" y="0"/>
                  </a:moveTo>
                  <a:cubicBezTo>
                    <a:pt x="799802" y="0"/>
                    <a:pt x="0" y="34922"/>
                    <a:pt x="0" y="78000"/>
                  </a:cubicBezTo>
                  <a:cubicBezTo>
                    <a:pt x="0" y="121078"/>
                    <a:pt x="799802" y="155999"/>
                    <a:pt x="1786407" y="155999"/>
                  </a:cubicBezTo>
                  <a:cubicBezTo>
                    <a:pt x="2773013" y="155999"/>
                    <a:pt x="3572814" y="121078"/>
                    <a:pt x="3572814" y="78000"/>
                  </a:cubicBezTo>
                  <a:cubicBezTo>
                    <a:pt x="3572814" y="34922"/>
                    <a:pt x="2773013" y="0"/>
                    <a:pt x="1786407" y="0"/>
                  </a:cubicBezTo>
                  <a:close/>
                </a:path>
              </a:pathLst>
            </a:custGeom>
            <a:solidFill>
              <a:srgbClr val="183263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34951" y="-23475"/>
              <a:ext cx="2902912" cy="164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994140" y="1453001"/>
            <a:ext cx="9397013" cy="7544778"/>
            <a:chOff x="0" y="0"/>
            <a:chExt cx="7467600" cy="5995670"/>
          </a:xfrm>
        </p:grpSpPr>
        <p:sp>
          <p:nvSpPr>
            <p:cNvPr name="Freeform 6" id="6">
              <a:hlinkClick r:id="rId2" tooltip="https://canva.link/ocw5uq2131qfx3u"/>
            </p:cNvPr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>
              <a:hlinkClick r:id="rId3" tooltip="https://canva.link/ocw5uq2131qfx3u"/>
            </p:cNvPr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8" id="8">
              <a:hlinkClick r:id="rId4" tooltip="https://canva.link/ocw5uq2131qfx3u"/>
            </p:cNvPr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9" id="9">
              <a:hlinkClick r:id="rId5" tooltip="https://canva.link/ocw5uq2131qfx3u"/>
            </p:cNvPr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1035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173699" y="4913785"/>
            <a:ext cx="2064008" cy="4083995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700" y="3731737"/>
            <a:ext cx="8126721" cy="291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42"/>
              </a:lnSpc>
            </a:pPr>
            <a:r>
              <a:rPr lang="en-US" sz="9697" spc="-5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TOP</a:t>
            </a:r>
          </a:p>
          <a:p>
            <a:pPr algn="l">
              <a:lnSpc>
                <a:spcPts val="11442"/>
              </a:lnSpc>
            </a:pPr>
            <a:r>
              <a:rPr lang="en-US" sz="9697" spc="-5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SNEAKERS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918204"/>
            <a:ext cx="8567927" cy="30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b="true" sz="2519" spc="50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HUGO MAESO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1976611"/>
            <a:ext cx="8864398" cy="139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1"/>
              </a:lnSpc>
            </a:pPr>
            <a:r>
              <a:rPr lang="en-US" sz="5038" spc="1299">
                <a:solidFill>
                  <a:srgbClr val="000000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PROYECTO FIN DE CICLO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6499" y="0"/>
            <a:ext cx="4761720" cy="10287000"/>
            <a:chOff x="0" y="0"/>
            <a:chExt cx="125411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11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116">
                  <a:moveTo>
                    <a:pt x="0" y="0"/>
                  </a:moveTo>
                  <a:lnTo>
                    <a:pt x="1254116" y="0"/>
                  </a:lnTo>
                  <a:lnTo>
                    <a:pt x="125411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1254116" cy="2633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9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735803" y="2200462"/>
            <a:ext cx="10113481" cy="554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5"/>
              </a:lnSpc>
            </a:pPr>
            <a:r>
              <a:rPr lang="en-US" sz="4431" spc="38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Introducción</a:t>
            </a:r>
          </a:p>
          <a:p>
            <a:pPr algn="l">
              <a:lnSpc>
                <a:spcPts val="8995"/>
              </a:lnSpc>
            </a:pPr>
            <a:r>
              <a:rPr lang="en-US" sz="4431" spc="38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Pantallas de la aplicación</a:t>
            </a:r>
          </a:p>
          <a:p>
            <a:pPr algn="l">
              <a:lnSpc>
                <a:spcPts val="8995"/>
              </a:lnSpc>
            </a:pPr>
            <a:r>
              <a:rPr lang="en-US" sz="4431" spc="38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Arquitectura</a:t>
            </a:r>
          </a:p>
          <a:p>
            <a:pPr algn="l">
              <a:lnSpc>
                <a:spcPts val="8995"/>
              </a:lnSpc>
            </a:pPr>
            <a:r>
              <a:rPr lang="en-US" sz="4431" spc="38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La web</a:t>
            </a:r>
          </a:p>
          <a:p>
            <a:pPr algn="l">
              <a:lnSpc>
                <a:spcPts val="8995"/>
              </a:lnSpc>
            </a:pPr>
            <a:r>
              <a:rPr lang="en-US" sz="4431" spc="38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Cierre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10670" y="2105212"/>
            <a:ext cx="1444428" cy="538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33"/>
              </a:lnSpc>
            </a:pPr>
            <a:r>
              <a:rPr lang="en-US" sz="3493" spc="22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  <a:p>
            <a:pPr algn="r">
              <a:lnSpc>
                <a:spcPts val="8733"/>
              </a:lnSpc>
            </a:pPr>
            <a:r>
              <a:rPr lang="en-US" sz="3493" spc="22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  <a:p>
            <a:pPr algn="r">
              <a:lnSpc>
                <a:spcPts val="8733"/>
              </a:lnSpc>
            </a:pPr>
            <a:r>
              <a:rPr lang="en-US" sz="3493" spc="22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  <a:p>
            <a:pPr algn="r">
              <a:lnSpc>
                <a:spcPts val="8733"/>
              </a:lnSpc>
            </a:pPr>
            <a:r>
              <a:rPr lang="en-US" sz="3493" spc="22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  <a:p>
            <a:pPr algn="r">
              <a:lnSpc>
                <a:spcPts val="8733"/>
              </a:lnSpc>
            </a:pPr>
            <a:r>
              <a:rPr lang="en-US" sz="3493" spc="22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935076" y="1700323"/>
            <a:ext cx="3480291" cy="6886353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175434" y="1435137"/>
            <a:ext cx="3748335" cy="7416725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8138075" y="1841575"/>
            <a:ext cx="3748335" cy="7416725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6157829" y="765987"/>
            <a:ext cx="3748335" cy="7416725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28700" y="685800"/>
            <a:ext cx="6544472" cy="101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Introducción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6151" y="983427"/>
            <a:ext cx="1677163" cy="292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20"/>
              </a:lnSpc>
            </a:pPr>
            <a:r>
              <a:rPr lang="en-US" sz="12719" spc="1093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6151" y="2798218"/>
            <a:ext cx="1677163" cy="292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20"/>
              </a:lnSpc>
            </a:pPr>
            <a:r>
              <a:rPr lang="en-US" sz="12719" spc="1093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6151" y="4610849"/>
            <a:ext cx="1677163" cy="292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20"/>
              </a:lnSpc>
            </a:pPr>
            <a:r>
              <a:rPr lang="en-US" sz="12719" spc="1093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60726" y="6628370"/>
            <a:ext cx="1512588" cy="262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286"/>
              </a:lnSpc>
            </a:pPr>
            <a:r>
              <a:rPr lang="en-US" sz="11471" spc="986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77754" y="2145287"/>
            <a:ext cx="4282855" cy="50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5"/>
              </a:lnSpc>
            </a:pPr>
            <a:r>
              <a:rPr lang="en-US" sz="2199" spc="189" b="tru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Cultura Sneaker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677754" y="2674242"/>
            <a:ext cx="4714980" cy="101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b="true" sz="1599" spc="137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 movimiento global impulsado por la juventud, el coleccionismo y las tendencias del mercado.</a:t>
            </a:r>
          </a:p>
          <a:p>
            <a:pPr algn="l">
              <a:lnSpc>
                <a:spcPts val="2063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677754" y="3962236"/>
            <a:ext cx="4282855" cy="50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b="true" sz="2199" spc="189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El pr</a:t>
            </a:r>
            <a:r>
              <a:rPr lang="en-US" b="true" sz="2199" spc="189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</a:t>
            </a:r>
            <a:r>
              <a:rPr lang="en-US" b="true" sz="2199" spc="189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bl</a:t>
            </a:r>
            <a:r>
              <a:rPr lang="en-US" b="true" sz="2199" spc="189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</a:t>
            </a:r>
            <a:r>
              <a:rPr lang="en-US" b="true" sz="2199" spc="189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</a:t>
            </a:r>
            <a:r>
              <a:rPr lang="en-US" b="true" sz="2199" spc="189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 ac</a:t>
            </a:r>
            <a:r>
              <a:rPr lang="en-US" b="true" sz="2199" spc="189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tua</a:t>
            </a:r>
            <a:r>
              <a:rPr lang="en-US" b="true" sz="2199" spc="189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677754" y="4486873"/>
            <a:ext cx="4714980" cy="101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599" spc="1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Mucha saturación de tiendas online, pero pocos espacios interactivos centrados en la opinión del usuario.</a:t>
            </a:r>
          </a:p>
          <a:p>
            <a:pPr algn="l">
              <a:lnSpc>
                <a:spcPts val="2063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2677754" y="5774867"/>
            <a:ext cx="4282855" cy="50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b="true" sz="2199" spc="189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</a:t>
            </a:r>
            <a:r>
              <a:rPr lang="en-US" b="true" sz="2199" spc="189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 s</a:t>
            </a:r>
            <a:r>
              <a:rPr lang="en-US" b="true" sz="2199" spc="189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ol</a:t>
            </a:r>
            <a:r>
              <a:rPr lang="en-US" b="true" sz="2199" spc="189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</a:t>
            </a:r>
            <a:r>
              <a:rPr lang="en-US" b="true" sz="2199" spc="189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ción propuest</a:t>
            </a:r>
            <a:r>
              <a:rPr lang="en-US" b="true" sz="2199" spc="189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677754" y="6299504"/>
            <a:ext cx="4714980" cy="101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599" spc="1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Una plataforma dinámica donde la propia comunidad define qué zapatillas están de moda.</a:t>
            </a:r>
          </a:p>
          <a:p>
            <a:pPr algn="l">
              <a:lnSpc>
                <a:spcPts val="2063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2677754" y="7597023"/>
            <a:ext cx="4282855" cy="47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62"/>
              </a:lnSpc>
              <a:spcBef>
                <a:spcPct val="0"/>
              </a:spcBef>
            </a:pPr>
            <a:r>
              <a:rPr lang="en-US" b="true" sz="2099" spc="180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El enfoq</a:t>
            </a:r>
            <a:r>
              <a:rPr lang="en-US" b="true" sz="2099" spc="180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</a:t>
            </a:r>
            <a:r>
              <a:rPr lang="en-US" b="true" sz="2099" spc="180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 de</a:t>
            </a:r>
            <a:r>
              <a:rPr lang="en-US" b="true" sz="2099" spc="180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</a:t>
            </a:r>
            <a:r>
              <a:rPr lang="en-US" b="true" sz="2099" spc="180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proy</a:t>
            </a:r>
            <a:r>
              <a:rPr lang="en-US" b="true" sz="2099" spc="180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</a:t>
            </a:r>
            <a:r>
              <a:rPr lang="en-US" b="true" sz="2099" spc="180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cto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77754" y="8112135"/>
            <a:ext cx="4714980" cy="762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599" spc="1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Unir la programación de una web moderna con un despliegue real en hardware propio desde casa.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9514426" y="3224988"/>
            <a:ext cx="3208407" cy="6348385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463685" y="3224988"/>
            <a:ext cx="3208407" cy="6348385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5565167" y="3224988"/>
            <a:ext cx="3208407" cy="6348385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1615908" y="3224988"/>
            <a:ext cx="3208407" cy="6348385"/>
            <a:chOff x="0" y="0"/>
            <a:chExt cx="2620010" cy="5184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AutoShape 42" id="42"/>
          <p:cNvSpPr/>
          <p:nvPr/>
        </p:nvSpPr>
        <p:spPr>
          <a:xfrm rot="0">
            <a:off x="1749106" y="2306355"/>
            <a:ext cx="11911020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1688825" y="2157016"/>
            <a:ext cx="311155" cy="311155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612464" y="2157016"/>
            <a:ext cx="311155" cy="311155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514426" y="2157016"/>
            <a:ext cx="311155" cy="311155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504549" y="2157016"/>
            <a:ext cx="311155" cy="311155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0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749106" y="2658671"/>
            <a:ext cx="2710206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1/ INICIO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675540" y="2658671"/>
            <a:ext cx="2710206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2/ REGISTRO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514426" y="2658671"/>
            <a:ext cx="2710206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3/ FAVORITOS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63685" y="2658671"/>
            <a:ext cx="2710206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4/ DASHBOARD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8700" y="685800"/>
            <a:ext cx="16230600" cy="101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Pantallas de la aplicación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983272" y="1344552"/>
            <a:ext cx="9085872" cy="7294966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79165" y="8378998"/>
            <a:ext cx="11933240" cy="521040"/>
            <a:chOff x="0" y="0"/>
            <a:chExt cx="3572814" cy="1559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72814" cy="155999"/>
            </a:xfrm>
            <a:custGeom>
              <a:avLst/>
              <a:gdLst/>
              <a:ahLst/>
              <a:cxnLst/>
              <a:rect r="r" b="b" t="t" l="l"/>
              <a:pathLst>
                <a:path h="155999" w="3572814">
                  <a:moveTo>
                    <a:pt x="1786407" y="0"/>
                  </a:moveTo>
                  <a:cubicBezTo>
                    <a:pt x="799802" y="0"/>
                    <a:pt x="0" y="34922"/>
                    <a:pt x="0" y="78000"/>
                  </a:cubicBezTo>
                  <a:cubicBezTo>
                    <a:pt x="0" y="121078"/>
                    <a:pt x="799802" y="155999"/>
                    <a:pt x="1786407" y="155999"/>
                  </a:cubicBezTo>
                  <a:cubicBezTo>
                    <a:pt x="2773013" y="155999"/>
                    <a:pt x="3572814" y="121078"/>
                    <a:pt x="3572814" y="78000"/>
                  </a:cubicBezTo>
                  <a:cubicBezTo>
                    <a:pt x="3572814" y="34922"/>
                    <a:pt x="2773013" y="0"/>
                    <a:pt x="1786407" y="0"/>
                  </a:cubicBezTo>
                  <a:close/>
                </a:path>
              </a:pathLst>
            </a:custGeom>
            <a:solidFill>
              <a:srgbClr val="183263">
                <a:alpha val="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334951" y="-23475"/>
              <a:ext cx="2902912" cy="164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08821" y="3923742"/>
            <a:ext cx="769389" cy="879302"/>
          </a:xfrm>
          <a:custGeom>
            <a:avLst/>
            <a:gdLst/>
            <a:ahLst/>
            <a:cxnLst/>
            <a:rect r="r" b="b" t="t" l="l"/>
            <a:pathLst>
              <a:path h="879302" w="769389">
                <a:moveTo>
                  <a:pt x="0" y="0"/>
                </a:moveTo>
                <a:lnTo>
                  <a:pt x="769390" y="0"/>
                </a:lnTo>
                <a:lnTo>
                  <a:pt x="769390" y="879302"/>
                </a:lnTo>
                <a:lnTo>
                  <a:pt x="0" y="879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4896" y="5374359"/>
            <a:ext cx="863315" cy="879302"/>
          </a:xfrm>
          <a:custGeom>
            <a:avLst/>
            <a:gdLst/>
            <a:ahLst/>
            <a:cxnLst/>
            <a:rect r="r" b="b" t="t" l="l"/>
            <a:pathLst>
              <a:path h="879302" w="863315">
                <a:moveTo>
                  <a:pt x="0" y="0"/>
                </a:moveTo>
                <a:lnTo>
                  <a:pt x="863315" y="0"/>
                </a:lnTo>
                <a:lnTo>
                  <a:pt x="863315" y="879302"/>
                </a:lnTo>
                <a:lnTo>
                  <a:pt x="0" y="879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6747912"/>
            <a:ext cx="1049511" cy="956367"/>
          </a:xfrm>
          <a:custGeom>
            <a:avLst/>
            <a:gdLst/>
            <a:ahLst/>
            <a:cxnLst/>
            <a:rect r="r" b="b" t="t" l="l"/>
            <a:pathLst>
              <a:path h="956367" w="1049511">
                <a:moveTo>
                  <a:pt x="0" y="0"/>
                </a:moveTo>
                <a:lnTo>
                  <a:pt x="1049511" y="0"/>
                </a:lnTo>
                <a:lnTo>
                  <a:pt x="1049511" y="956366"/>
                </a:lnTo>
                <a:lnTo>
                  <a:pt x="0" y="9563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89086" y="1935851"/>
            <a:ext cx="6544472" cy="101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Arquitectura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04586" y="3847542"/>
            <a:ext cx="6544472" cy="385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1"/>
              </a:lnSpc>
            </a:pPr>
            <a:r>
              <a:rPr lang="en-US" sz="2599" spc="16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Seguridad:</a:t>
            </a:r>
            <a:r>
              <a:rPr lang="en-US" sz="259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Red doméstica oculta sin abrir puertos.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951"/>
              </a:lnSpc>
            </a:pPr>
            <a:r>
              <a:rPr lang="en-US" sz="2599" spc="16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Portabilidad:</a:t>
            </a:r>
            <a:r>
              <a:rPr lang="en-US" sz="259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Microservicios aislados con Docker.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951"/>
              </a:lnSpc>
            </a:pPr>
            <a:r>
              <a:rPr lang="en-US" sz="2599" spc="16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Autonomía:</a:t>
            </a:r>
            <a:r>
              <a:rPr lang="en-US" sz="259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Self-Hosting real en Mini PC.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15667" y="8639518"/>
            <a:ext cx="11933240" cy="521040"/>
            <a:chOff x="0" y="0"/>
            <a:chExt cx="3572814" cy="155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2814" cy="155999"/>
            </a:xfrm>
            <a:custGeom>
              <a:avLst/>
              <a:gdLst/>
              <a:ahLst/>
              <a:cxnLst/>
              <a:rect r="r" b="b" t="t" l="l"/>
              <a:pathLst>
                <a:path h="155999" w="3572814">
                  <a:moveTo>
                    <a:pt x="1786407" y="0"/>
                  </a:moveTo>
                  <a:cubicBezTo>
                    <a:pt x="799802" y="0"/>
                    <a:pt x="0" y="34922"/>
                    <a:pt x="0" y="78000"/>
                  </a:cubicBezTo>
                  <a:cubicBezTo>
                    <a:pt x="0" y="121078"/>
                    <a:pt x="799802" y="155999"/>
                    <a:pt x="1786407" y="155999"/>
                  </a:cubicBezTo>
                  <a:cubicBezTo>
                    <a:pt x="2773013" y="155999"/>
                    <a:pt x="3572814" y="121078"/>
                    <a:pt x="3572814" y="78000"/>
                  </a:cubicBezTo>
                  <a:cubicBezTo>
                    <a:pt x="3572814" y="34922"/>
                    <a:pt x="2773013" y="0"/>
                    <a:pt x="1786407" y="0"/>
                  </a:cubicBezTo>
                  <a:close/>
                </a:path>
              </a:pathLst>
            </a:custGeom>
            <a:solidFill>
              <a:srgbClr val="183263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34951" y="-23475"/>
              <a:ext cx="2902912" cy="164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6339351" y="1605072"/>
            <a:ext cx="9085872" cy="7294966"/>
            <a:chOff x="0" y="0"/>
            <a:chExt cx="7467600" cy="5995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46264" y="4465765"/>
            <a:ext cx="2959108" cy="101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La Web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1546" y="4358448"/>
            <a:ext cx="15984908" cy="183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15"/>
              </a:lnSpc>
            </a:pPr>
            <a:r>
              <a:rPr lang="en-US" sz="13815" spc="1105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Gracias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04611" y="6280977"/>
            <a:ext cx="9078779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3000" spc="60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WWW.TSNEAKERS.ES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DAHJoO2zpMQ</dc:identifier>
  <dcterms:modified xsi:type="dcterms:W3CDTF">2011-08-01T06:04:30Z</dcterms:modified>
  <cp:revision>1</cp:revision>
  <dc:title>Presentación TFG</dc:title>
</cp:coreProperties>
</file>